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la Asimilación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Combinación de modelos dinámicos con observaciones</a:t>
            </a:r>
          </a:p>
          <a:p>
            <a:r>
              <a:t>• Mejora predicción, reconstrucción y control de sistemas físicos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Motivación Histórica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Lewis Fry Richardson (1922): predicción del clima a mano</a:t>
            </a:r>
          </a:p>
          <a:p>
            <a:r>
              <a:t>• Fracaso inicial por condiciones inconsistentes</a:t>
            </a:r>
          </a:p>
          <a:p>
            <a:r>
              <a:t>• Demostró necesidad de fusión modelo-dato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Formalización Matemática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Sasaki (1958): método variacional 3D-Var</a:t>
            </a:r>
          </a:p>
          <a:p>
            <a:r>
              <a:t>• Gandin (1963): Interpolación Óptima</a:t>
            </a:r>
          </a:p>
          <a:p>
            <a:r>
              <a:t>• ECMWF y NCEP adoptan DA en 70s-80s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Avances con Supercomputación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Ingreso de datos satelitales y radares</a:t>
            </a:r>
          </a:p>
          <a:p>
            <a:r>
              <a:t>• 4D-Var permite corrección dinámica en el tiempo</a:t>
            </a:r>
          </a:p>
          <a:p>
            <a:r>
              <a:t>• Nacimiento de DA como herramienta crítica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Expansión Estocástica: EnKF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Década de 1990: métodos de ensambles</a:t>
            </a:r>
          </a:p>
          <a:p>
            <a:r>
              <a:t>• Kalman Filter extendido a sistemas no lineales</a:t>
            </a:r>
          </a:p>
          <a:p>
            <a:r>
              <a:t>• Estimación de incertidumbre en tiempo real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Campos de Aplicación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Oceanografía, Climatología, Medicina, Economía</a:t>
            </a:r>
          </a:p>
          <a:p>
            <a:r>
              <a:t>• Ingeniería de control, Mecánica de fluidos</a:t>
            </a:r>
          </a:p>
          <a:p>
            <a:r>
              <a:t>• Predicción de incendios y sistemas energéticos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 y Diseño de Experimentos (DoE)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 mejora planificación de mediciones futuras</a:t>
            </a:r>
          </a:p>
          <a:p>
            <a:r>
              <a:t>• OSSEs (Observation System Simulation Experiments)</a:t>
            </a:r>
          </a:p>
          <a:p>
            <a:r>
              <a:t>• DoE orientado por análisis de sensibilidad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 e Incertidumbre Predictiva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Estimación de estados y sus incertidumbres</a:t>
            </a:r>
          </a:p>
          <a:p>
            <a:r>
              <a:t>• EnKF y enfoques bayesianos entregan pronósticos probabilísticos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 y Reducción Modal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Descomposición de modos dominantes: POD, DMD</a:t>
            </a:r>
          </a:p>
          <a:p>
            <a:r>
              <a:t>• Reduce orden computacional de modelos</a:t>
            </a:r>
          </a:p>
          <a:p>
            <a:r>
              <a:t>• DA puede estimar coeficientes modales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e Integración Física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Redes neuronales informadas por física (PINNs)</a:t>
            </a:r>
          </a:p>
          <a:p>
            <a:r>
              <a:t>• ML + DA: estructura física + flexibilidad de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del Proceso 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Modelo (M)</a:t>
            </a:r>
          </a:p>
          <a:p>
            <a:r>
              <a:t>2. Observaciones (y)</a:t>
            </a:r>
          </a:p>
          <a:p>
            <a:r>
              <a:t>3. Operador de Observación (H)</a:t>
            </a:r>
          </a:p>
          <a:p>
            <a:r>
              <a:t>4. Covarianzas (B, R)</a:t>
            </a:r>
          </a:p>
          <a:p>
            <a:r>
              <a:t>5. Algoritmo de Asimilación</a:t>
            </a:r>
          </a:p>
          <a:p>
            <a:r>
              <a:t>6. Mecanismo de Actualización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Dinámico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Sistema físico gobernado por ecuaciones diferenciales</a:t>
            </a:r>
          </a:p>
          <a:p>
            <a:r>
              <a:t>• Ejemplos: Navier-Stokes, ecuaciones atmosféricas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Observaciones y 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Observaciones: sensores, imágenes médicas, drones</a:t>
            </a:r>
          </a:p>
          <a:p>
            <a:r>
              <a:t>• Operador H: proyección al espacio observable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Covarianzas de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B: error del modelo (background)</a:t>
            </a:r>
          </a:p>
          <a:p>
            <a:r>
              <a:t>• R: error de observación</a:t>
            </a:r>
          </a:p>
          <a:p>
            <a:r>
              <a:t>• Definen el 'peso' de cada fuente de información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Algoritmos de Asimilación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Variacional (3D-Var, 4D-Var)</a:t>
            </a:r>
          </a:p>
          <a:p>
            <a:r>
              <a:t>• Secuencial (KF, EnKF)</a:t>
            </a:r>
          </a:p>
          <a:p>
            <a:r>
              <a:t>• Métodos híbridos y Bayesianos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Asimilación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Filtrado: actualización por pasos (online)</a:t>
            </a:r>
          </a:p>
          <a:p>
            <a:r>
              <a:t>• Suavizado: retrocorrección con datos futuros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Método: Nudging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dx/dt = f(x) + α(y − H(x))</a:t>
            </a:r>
          </a:p>
          <a:p>
            <a:r>
              <a:t>• Enlace simple entre modelo y dato</a:t>
            </a:r>
          </a:p>
          <a:p>
            <a:r>
              <a:t>• Útil en tiempo real con bajo costo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Nudging Adaptativo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α varía según calidad de observación</a:t>
            </a:r>
          </a:p>
          <a:p>
            <a:r>
              <a:t>• Puede incorporarse en redes neuronales</a:t>
            </a:r>
          </a:p>
          <a:p>
            <a:r>
              <a:t>• Controla consistencia física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Caso: Flujo Turbulento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Simulación de cilindro cuadrado (Zauner, 2020)</a:t>
            </a:r>
          </a:p>
          <a:p>
            <a:r>
              <a:t>• Re = 22,000, comparado con DNS</a:t>
            </a:r>
          </a:p>
          <a:p>
            <a:r>
              <a:t>• Nudging mejora shedding y estructuras pequeñas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Método: Kalman Filter (KF)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Estima estado óptimo en sistemas lineales</a:t>
            </a:r>
          </a:p>
          <a:p>
            <a:r>
              <a:t>• Eficiente y recursivo</a:t>
            </a:r>
          </a:p>
          <a:p>
            <a:r>
              <a:t>• Requiere matrices A, H, Q, R conocidas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KF: Aplicación Radar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Seguimiento de plataforma móvil</a:t>
            </a:r>
          </a:p>
          <a:p>
            <a:r>
              <a:t>• Radar entrega posición del blanco</a:t>
            </a:r>
          </a:p>
          <a:p>
            <a:r>
              <a:t>• KF guía motores de control (Ghanai, 2009)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KF: Modelado ECG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Modelo fuzzy Takagi–Sugeno</a:t>
            </a:r>
          </a:p>
          <a:p>
            <a:r>
              <a:t>• Filtros para funciones de pertenencia y parámetros</a:t>
            </a:r>
          </a:p>
          <a:p>
            <a:r>
              <a:t>• Estimación robusta en datos ruidosos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